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3C46"/>
                </a:solidFill>
                <a:latin typeface="Aptos"/>
              </a:rPr>
              <a:t>Choose Your Own Adventure AI — React Frontend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1338560" cy="14173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Aptos"/>
              </a:rPr>
              <a:t>1. Application &amp;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508760" cy="50292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React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1097280" cy="50292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App.tsx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1508760" cy="50292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BrowserRouter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143000"/>
            <a:ext cx="1508760" cy="502920"/>
          </a:xfrm>
          <a:prstGeom prst="roundRect">
            <a:avLst/>
          </a:prstGeom>
          <a:solidFill>
            <a:srgbClr val="EEF0F3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Route: "/"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1508760" cy="502920"/>
          </a:xfrm>
          <a:prstGeom prst="roundRect">
            <a:avLst/>
          </a:prstGeom>
          <a:solidFill>
            <a:srgbClr val="EEF0F3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Route: "/story/:id"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143000"/>
            <a:ext cx="2057400" cy="50292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StoryGenerator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057400" cy="50292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StoryLoader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664208"/>
            <a:ext cx="50292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1664208"/>
            <a:ext cx="50292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852160" y="1389888"/>
            <a:ext cx="594360" cy="27432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52160" y="1664208"/>
            <a:ext cx="594360" cy="36576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79" y="1389888"/>
            <a:ext cx="685801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2029968"/>
            <a:ext cx="685801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2606040"/>
            <a:ext cx="5486400" cy="36118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791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Aptos"/>
              </a:rPr>
              <a:t>2. Story Generation Route — 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150876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ThemeInput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50876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LoadingStatus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154680"/>
            <a:ext cx="2423160" cy="1143000"/>
          </a:xfrm>
          <a:prstGeom prst="roundRect">
            <a:avLst/>
          </a:prstGeom>
          <a:solidFill>
            <a:srgbClr val="FFEEBE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latin typeface="Aptos"/>
              </a:rPr>
              <a:t>Local State
• theme
• jobId
• jobStatus
• loading
• 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617720"/>
            <a:ext cx="2423160" cy="1051560"/>
          </a:xfrm>
          <a:prstGeom prst="roundRect">
            <a:avLst/>
          </a:prstGeom>
          <a:solidFill>
            <a:srgbClr val="E1D7F7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latin typeface="Aptos"/>
              </a:rPr>
              <a:t>Side Effects
useEffect()
Polling every 5 seconds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40280" y="3547872"/>
            <a:ext cx="548640" cy="109728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40280" y="4553712"/>
            <a:ext cx="548640" cy="521208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26480" y="2606040"/>
            <a:ext cx="5623560" cy="36118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6791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Aptos"/>
              </a:rPr>
              <a:t>3. Story Playing Route — /story/:id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246120"/>
            <a:ext cx="150876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latin typeface="Aptos"/>
              </a:rPr>
              <a:t>useParams()
Extract 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063240"/>
            <a:ext cx="2423160" cy="1143000"/>
          </a:xfrm>
          <a:prstGeom prst="roundRect">
            <a:avLst/>
          </a:prstGeom>
          <a:solidFill>
            <a:srgbClr val="FFEEBE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latin typeface="Aptos"/>
              </a:rPr>
              <a:t>Local State
• story
• loading
• 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572000"/>
            <a:ext cx="1508760" cy="68580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StoryGame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4526280"/>
            <a:ext cx="2423160" cy="1234440"/>
          </a:xfrm>
          <a:prstGeom prst="roundRect">
            <a:avLst/>
          </a:prstGeom>
          <a:solidFill>
            <a:srgbClr val="FFEEBE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latin typeface="Aptos"/>
              </a:rPr>
              <a:t>Gameplay State
• currentNodeId
• currentNode
• options
• ending flags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55279" y="3547872"/>
            <a:ext cx="502921" cy="9144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55279" y="4919472"/>
            <a:ext cx="502921" cy="201168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Key idea: App controls routing; route-level components own feature state; reusable components receive data and callbacks.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3C46"/>
                </a:solidFill>
                <a:latin typeface="Aptos"/>
              </a:rPr>
              <a:t>Frontend Runtime Data Flow — From User Action to UI Update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1338560" cy="22402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Aptos"/>
              </a:rPr>
              <a:t>Flow A — Generate a New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32588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600200"/>
            <a:ext cx="150876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ThemeInput
onSubmit()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00200"/>
            <a:ext cx="1600200" cy="59436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StoryGenerator
setState()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1691640" cy="59436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latin typeface="Aptos"/>
              </a:rPr>
              <a:t>POST
/stories/create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00200"/>
            <a:ext cx="1463040" cy="594360"/>
          </a:xfrm>
          <a:prstGeom prst="roundRect">
            <a:avLst/>
          </a:prstGeom>
          <a:solidFill>
            <a:srgbClr val="FFEEBE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job_id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600200"/>
            <a:ext cx="1325880" cy="59436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latin typeface="Aptos"/>
              </a:rPr>
              <a:t>Poll
GET /jobs/{id}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901952"/>
            <a:ext cx="32004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19019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19019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19019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2640" y="19019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7472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  <a:latin typeface="Aptos"/>
              </a:rPr>
              <a:t>processing → poll again   |   failed → error   |   completed → story_id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788920"/>
            <a:ext cx="3291840" cy="457200"/>
          </a:xfrm>
          <a:prstGeom prst="roundRect">
            <a:avLst/>
          </a:prstGeom>
          <a:solidFill>
            <a:srgbClr val="E1D7F7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useNavigate() → /story/{story_id}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98480" y="2194560"/>
            <a:ext cx="0" cy="82296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80960" y="3017520"/>
            <a:ext cx="301752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3429000"/>
            <a:ext cx="11338560" cy="2606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BEC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021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Aptos"/>
              </a:rPr>
              <a:t>Flow B — Load and Play a 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14800"/>
            <a:ext cx="137160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URL
/story/:id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4114800"/>
            <a:ext cx="1508760" cy="59436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StoryLoader
useParams()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114800"/>
            <a:ext cx="1828800" cy="594360"/>
          </a:xfrm>
          <a:prstGeom prst="roundRect">
            <a:avLst/>
          </a:prstGeom>
          <a:solidFill>
            <a:srgbClr val="D2E4F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latin typeface="Aptos"/>
              </a:rPr>
              <a:t>GET
/stories/{id}/complete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114800"/>
            <a:ext cx="1508760" cy="594360"/>
          </a:xfrm>
          <a:prstGeom prst="roundRect">
            <a:avLst/>
          </a:prstGeom>
          <a:solidFill>
            <a:srgbClr val="FFEEBE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Story Object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114800"/>
            <a:ext cx="1508760" cy="594360"/>
          </a:xfrm>
          <a:prstGeom prst="roundRect">
            <a:avLst/>
          </a:prstGeom>
          <a:solidFill>
            <a:srgbClr val="F6C4E6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latin typeface="Aptos"/>
              </a:rPr>
              <a:t>StoryGame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4114800"/>
            <a:ext cx="1051560" cy="594360"/>
          </a:xfrm>
          <a:prstGeom prst="roundRect">
            <a:avLst/>
          </a:prstGeom>
          <a:solidFill>
            <a:srgbClr val="D7EFDA"/>
          </a:solidFill>
          <a:ln w="1651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latin typeface="Aptos"/>
              </a:rPr>
              <a:t>Choice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57400" y="44165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31920" y="4416552"/>
            <a:ext cx="41148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72200" y="4416552"/>
            <a:ext cx="41148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92440" y="4416552"/>
            <a:ext cx="41148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12680" y="4416552"/>
            <a:ext cx="36576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881360" y="4709160"/>
            <a:ext cx="0" cy="73152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052560" y="5440680"/>
            <a:ext cx="182880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5820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05050"/>
                </a:solidFill>
                <a:latin typeface="Aptos"/>
              </a:rPr>
              <a:t>chooseOption()
setCurrentNodeId()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543800" y="5623560"/>
            <a:ext cx="91440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Core React loop: User action → event handler → state update → re-render → updated UI. Async work is handled by useEffect().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